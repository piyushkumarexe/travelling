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0"/>
            <a:ext cx="713232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1430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691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PRODUCT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YatraWise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Smart Tourism &amp;
Safety 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86200"/>
            <a:ext cx="1371600" cy="444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Android  ·  Flutter  ·  Firebase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Presented by  Team Genesis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26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960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960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Travel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Geofenced zones, one-tap SOS,
live emergency services — all 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1945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Explore smart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Real Places, AI itineraries,
live maps, weather &amp; routes.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Stay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Digital Emergency ID with
QR verification against Firestore.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6634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Travel greener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Eco Score from real walk
and cycle GPS sessions.</a:t>
            </a:r>
          </a:p>
        </p:txBody>
      </p:sp>
    </p:spTree>
  </p:cSld>
  <p:transition advClick="1"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86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94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102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18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 /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99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18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Why travelers still juggle five apps and feel unsafe on the 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057400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148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134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94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What we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5328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YatraWise — one assistant for travel, safety, identity &amp; eco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971800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0632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278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Product tour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4472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Home, Trip Planner, Safety, SOS, Explore, Maps, AI, Digital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886200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977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42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023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How it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616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Architecture, full feature set, tech stack, security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4800600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4892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0566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276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What ships as real today, and where Genesis takes it next</a:t>
            </a:r>
          </a:p>
        </p:txBody>
      </p:sp>
    </p:spTree>
  </p:cSld>
  <p:transition advClick="1" spd="med">
    <p:push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 presetID="10" presetClass="entr" presetSubtype="0" grpId="0" nodeType="withEffect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36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 presetID="10" presetClass="entr" presetSubtype="0" grpId="0" nodeType="withEffect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38"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 presetID="10" presetClass="entr" presetSubtype="0" grpId="0" nodeType="withEffect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40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 presetID="10" presetClass="entr" presetSubtype="0" grpId="0" nodeType="withEffect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42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The gap on the 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Tourists carry five apps and still feel unsafe, overcharged, and lost.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4406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Fragmented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Maps, weather, translation, SOS and booking live in separate apps with no shared location or profile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4406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Weak safety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2860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Most travel apps stop at a helpline number. No geofence alerts, no local zone data, no digital emergency 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54406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No single trip brain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Itineraries, budgets, multi-stop routes and nearby essentials are rarely planned together around where you actually 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118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611880"/>
            <a:ext cx="54406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Trust &amp; verification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4805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Paper IDs get lost. Static QR cards can leak personal data. Emergency contacts are not always one scan away.</a:t>
            </a:r>
          </a:p>
        </p:txBody>
      </p:sp>
    </p:spTree>
  </p:cSld>
  <p:transition advClick="1"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44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68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92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104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116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128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52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164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176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188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200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One app. Real safety. Real travel.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YatraWise unifies premium travel UX with end-to-end safety — every module is live and wired.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10972800" cy="1143000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 native Android assistant that knows where you are, what is nearby, whether the area is safe, and how to get help — with live Google Maps, NVIDIA AI, OpenWeather, and a verifiable Digital Emergency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34640"/>
            <a:ext cx="27432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Calibri"/>
              </a:rPr>
              <a:t>Travel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Explore places, AI trip plans, weather, budget &amp; wallet, multi-stop routes, nearby essentials.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834640"/>
            <a:ext cx="27432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03320" y="31089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Calibri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51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Geofenced zones, one-tap SOS with live GPS, incident reporting, nearby hospitals &amp; police.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27432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31089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Calibri"/>
              </a:rPr>
              <a:t>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Digital Emergency ID — QR encodes only a 64-char token, verified live in Firestore.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834640"/>
            <a:ext cx="27432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1089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Calibri"/>
              </a:rPr>
              <a:t>Eco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251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Eco Score from real walk/cycle GPS sessions, levels and badges persisted in Firestore.</a:t>
            </a:r>
          </a:p>
        </p:txBody>
      </p:sp>
    </p:spTree>
  </p:cSld>
  <p:transition advClick="1" spd="med">
    <p:push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15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24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33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51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69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87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96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105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14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123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132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141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 presetID="10" presetClass="entr" presetSubtype="0" grpId="0" nodeType="withEffect">
                      <p:stCondLst>
                        <p:cond delay="1590"/>
                      </p:stCondLst>
                      <p:childTnLst>
                        <p:animEffect transition="in" filter="fade">
                          <p:cBhvr>
                            <p:cTn id="36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 presetID="10" presetClass="entr" presetSubtype="0" grpId="0" nodeType="withEffect">
                      <p:stCondLst>
                        <p:cond delay="1680"/>
                      </p:stCondLst>
                      <p:childTnLst>
                        <p:animEffect transition="in" filter="fade">
                          <p:cBhvr>
                            <p:cTn id="38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Home — live context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Location, weather, safety status, SOS and quick actions. Every card opens a working feature.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 /  16</a:t>
            </a:r>
          </a:p>
        </p:txBody>
      </p:sp>
      <p:pic>
        <p:nvPicPr>
          <p:cNvPr id="9" name="Picture 8" descr="ss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2374902" cy="4983480"/>
          </a:xfrm>
          <a:prstGeom prst="rect">
            <a:avLst/>
          </a:prstGeom>
        </p:spPr>
      </p:pic>
      <p:pic>
        <p:nvPicPr>
          <p:cNvPr id="10" name="Picture 9" descr="ss_home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280160"/>
            <a:ext cx="2374902" cy="4983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0" y="13990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325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Live greeting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184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Name from profile, reverse-geocoded place label, avatar from Storage.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3134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240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Weather strip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32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OpenWeather current conditions via secure Cloud Function proxy.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2278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154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Safety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4472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Nearest active zone for your GPS — or an honest limited-data state.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1422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SOS always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3616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Confirm → real GPS fix → emergencyEvents doc → call nearby services.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0566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983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Quick actions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2760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AI, Explore, Map, Incidents, Trips, Eco, Digital ID, Weather.</a:t>
            </a:r>
          </a:p>
        </p:txBody>
      </p:sp>
    </p:spTree>
  </p:cSld>
  <p:transition advClick="1"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 presetID="10" presetClass="entr" presetSubtype="0" grpId="0" nodeType="withEffect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36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AI Trip Planner — working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Destination, days, travelers, transport, budget, style &amp; interests → NVIDIA day-by-day plan you can save.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 /  16</a:t>
            </a:r>
          </a:p>
        </p:txBody>
      </p:sp>
      <p:pic>
        <p:nvPicPr>
          <p:cNvPr id="9" name="Picture 8" descr="ss_trip_planner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2396691" cy="5029200"/>
          </a:xfrm>
          <a:prstGeom prst="rect">
            <a:avLst/>
          </a:prstGeom>
        </p:spPr>
      </p:pic>
      <p:pic>
        <p:nvPicPr>
          <p:cNvPr id="10" name="Picture 9" descr="ss_trip_planner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234440"/>
            <a:ext cx="2396691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0" y="13533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280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Real AI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5727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 Llama 3.1 70B builds a timed day plan from your inputs — not a static template.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2677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194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Rich trip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871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Destination search, start date, days, travelers, transport mode, budget tier, travel style.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1821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Interest chips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4015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History, Culture, Food, Nature, Adventure, Shopping, Nightlife, Family, and more.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0965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Save to Firestore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3159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Generated plan saves per user; appears under Saved trips and as active trip on Home.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0109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937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Honest 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2303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UI reminds travelers to verify details before they go — no overclaiming.</a:t>
            </a:r>
          </a:p>
        </p:txBody>
      </p:sp>
    </p:spTree>
  </p:cSld>
  <p:transition advClick="1" spd="med">
    <p:push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120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160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 presetID="10" presetClass="entr" presetSubtype="0" grpId="0" nodeType="withEffect">
                      <p:stCondLst>
                        <p:cond delay="1800"/>
                      </p:stCondLst>
                      <p:childTnLst>
                        <p:animEffect transition="in" filter="fade">
                          <p:cBhvr>
                            <p:cTn id="36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Complete feature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Every module below is implemented and reachable in the app — no placeholders.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Home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Live location, weather, safety, SOS, attractions,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2801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280160"/>
            <a:ext cx="73152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AI Trip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Destination → NVIDIA day plan → save to Firestore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801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Google Places search, categories, photos, navigate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2801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28016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Map &amp; routes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Maps SDK, zones, multi-stop routes, live GPS dot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1460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514600"/>
            <a:ext cx="73152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AI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NVIDIA chat with location + preference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51460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251460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Safety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Zones list, geofence monitor, emergency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51460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1460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One-tap 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GPS-backed emergency event + real call buttons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251460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251460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6608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Incident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Photo/video upload → AI triage → admin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74904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749040"/>
            <a:ext cx="73152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Digital Emergency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4251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64-hex QR token, camera scan, live verify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80" y="374904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83280" y="374904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84448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Eco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4448" y="4251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Walk/cycle GPS sessions, points, levels, badges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374904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3749040"/>
            <a:ext cx="73152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0528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Weather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4251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Current + 5-day forecast with safety notes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40" y="374904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40" y="3749040"/>
            <a:ext cx="73152" cy="109728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36608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Notifications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6608" y="4251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Safety, geofence, incident, emergency history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9834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983480"/>
            <a:ext cx="73152" cy="1097280"/>
          </a:xfrm>
          <a:prstGeom prst="rect">
            <a:avLst/>
          </a:prstGeom>
          <a:solidFill>
            <a:srgbClr val="3D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5148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Profile &amp; prefs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5486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Photo, language, emergency contact, budget/style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83280" y="49834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83280" y="49834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84448" y="5148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Nearby essentials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84448" y="5486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Hospitals, police, ATMs and services near you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49834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09360" y="498348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10528" y="5148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Budget &amp; wallet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10528" y="5486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Travel budget preference wired into trip planning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35440" y="49834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35440" y="4983480"/>
            <a:ext cx="73152" cy="109728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36608" y="5148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Admin console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36608" y="5486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Incidents, zones, SOS — role-gated server-side</a:t>
            </a:r>
          </a:p>
        </p:txBody>
      </p:sp>
    </p:spTree>
  </p:cSld>
  <p:transition advClick="1"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18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22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26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34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58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 presetID="10" presetClass="entr" presetSubtype="0" grpId="0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36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 presetID="10" presetClass="entr" presetSubtype="0" grpId="0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38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 presetID="10" presetClass="entr" presetSubtype="0" grpId="0" nodeType="withEffect">
                      <p:stCondLst>
                        <p:cond delay="820"/>
                      </p:stCondLst>
                      <p:childTnLst>
                        <p:animEffect transition="in" filter="fade">
                          <p:cBhvr>
                            <p:cTn id="40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 presetID="10" presetClass="entr" presetSubtype="0" grpId="0" nodeType="withEffect">
                      <p:stCondLst>
                        <p:cond delay="860"/>
                      </p:stCondLst>
                      <p:childTnLst>
                        <p:animEffect transition="in" filter="fade">
                          <p:cBhvr>
                            <p:cTn id="42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43" fill="hold" presetID="10" presetClass="entr" presetSubtype="0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44"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45" fill="hold" presetID="10" presetClass="entr" presetSubtype="0" grpId="0" nodeType="withEffect">
                      <p:stCondLst>
                        <p:cond delay="940"/>
                      </p:stCondLst>
                      <p:childTnLst>
                        <p:animEffect transition="in" filter="fade">
                          <p:cBhvr>
                            <p:cTn id="46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47" fill="hold" presetID="10" presetClass="entr" presetSubtype="0" grpId="0" nodeType="withEffect">
                      <p:stCondLst>
                        <p:cond delay="980"/>
                      </p:stCondLst>
                      <p:childTnLst>
                        <p:animEffect transition="in" filter="fade">
                          <p:cBhvr>
                            <p:cTn id="48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49" fill="hold" presetID="10" presetClass="entr" presetSubtype="0" grpId="0" nodeType="withEffect">
                      <p:stCondLst>
                        <p:cond delay="1020"/>
                      </p:stCondLst>
                      <p:childTnLst>
                        <p:animEffect transition="in" filter="fade">
                          <p:cBhvr>
                            <p:cTn id="50"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51" fill="hold" presetID="10" presetClass="entr" presetSubtype="0" grpId="0" nodeType="withEffect">
                      <p:stCondLst>
                        <p:cond delay="1060"/>
                      </p:stCondLst>
                      <p:childTnLst>
                        <p:animEffect transition="in" filter="fade">
                          <p:cBhvr>
                            <p:cTn id="52" dur="5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53" fill="hold" presetID="10" presetClass="entr" presetSubtype="0" grpId="0" nodeType="withEffect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54" dur="5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55" fill="hold" presetID="10" presetClass="entr" presetSubtype="0" grpId="0" nodeType="withEffect">
                      <p:stCondLst>
                        <p:cond delay="1140"/>
                      </p:stCondLst>
                      <p:childTnLst>
                        <p:animEffect transition="in" filter="fade">
                          <p:cBhvr>
                            <p:cTn id="56" dur="5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57" fill="hold" presetID="10" presetClass="entr" presetSubtype="0" grpId="0" nodeType="withEffect">
                      <p:stCondLst>
                        <p:cond delay="1180"/>
                      </p:stCondLst>
                      <p:childTnLst>
                        <p:animEffect transition="in" filter="fade">
                          <p:cBhvr>
                            <p:cTn id="58" dur="5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59" fill="hold" presetID="10" presetClass="entr" presetSubtype="0" grpId="0" nodeType="withEffect">
                      <p:stCondLst>
                        <p:cond delay="1220"/>
                      </p:stCondLst>
                      <p:childTnLst>
                        <p:animEffect transition="in" filter="fade">
                          <p:cBhvr>
                            <p:cTn id="60" dur="5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61" fill="hold" presetID="10" presetClass="entr" presetSubtype="0" grpId="0" nodeType="withEffect">
                      <p:stCondLst>
                        <p:cond delay="1260"/>
                      </p:stCondLst>
                      <p:childTnLst>
                        <p:animEffect transition="in" filter="fade">
                          <p:cBhvr>
                            <p:cTn id="62" dur="5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63" fill="hold" presetID="10" presetClass="entr" presetSubtype="0" grpId="0" nodeType="withEffect">
                      <p:stCondLst>
                        <p:cond delay="1300"/>
                      </p:stCondLst>
                      <p:childTnLst>
                        <p:animEffect transition="in" filter="fade">
                          <p:cBhvr>
                            <p:cTn id="64" dur="5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65" fill="hold" presetID="10" presetClass="entr" presetSubtype="0" grpId="0" nodeType="withEffect">
                      <p:stCondLst>
                        <p:cond delay="1340"/>
                      </p:stCondLst>
                      <p:childTnLst>
                        <p:animEffect transition="in" filter="fade">
                          <p:cBhvr>
                            <p:cTn id="66" dur="5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67" fill="hold" presetID="10" presetClass="entr" presetSubtype="0" grpId="0" nodeType="withEffect">
                      <p:stCondLst>
                        <p:cond delay="1380"/>
                      </p:stCondLst>
                      <p:childTnLst>
                        <p:animEffect transition="in" filter="fade">
                          <p:cBhvr>
                            <p:cTn id="68" dur="5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69" fill="hold" presetID="10" presetClass="entr" presetSubtype="0" grpId="0" nodeType="withEffect">
                      <p:stCondLst>
                        <p:cond delay="1420"/>
                      </p:stCondLst>
                      <p:childTnLst>
                        <p:animEffect transition="in" filter="fade">
                          <p:cBhvr>
                            <p:cTn id="70" dur="5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71" fill="hold" presetID="10" presetClass="entr" presetSubtype="0" grpId="0" nodeType="withEffect">
                      <p:stCondLst>
                        <p:cond delay="1460"/>
                      </p:stCondLst>
                      <p:childTnLst>
                        <p:animEffect transition="in" filter="fade">
                          <p:cBhvr>
                            <p:cTn id="72" dur="5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73" fill="hold" presetID="10" presetClass="entr" presetSubtype="0" grpId="0" nodeType="withEffect">
                      <p:stCondLst>
                        <p:cond delay="1500"/>
                      </p:stCondLst>
                      <p:childTnLst>
                        <p:animEffect transition="in" filter="fade">
                          <p:cBhvr>
                            <p:cTn id="74" dur="5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75" fill="hold" presetID="10" presetClass="entr" presetSubtype="0" grpId="0" nodeType="withEffect">
                      <p:stCondLst>
                        <p:cond delay="1540"/>
                      </p:stCondLst>
                      <p:childTnLst>
                        <p:animEffect transition="in" filter="fade">
                          <p:cBhvr>
                            <p:cTn id="76" dur="5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77" fill="hold" presetID="10" presetClass="entr" presetSubtype="0" grpId="0" nodeType="withEffect">
                      <p:stCondLst>
                        <p:cond delay="1580"/>
                      </p:stCondLst>
                      <p:childTnLst>
                        <p:animEffect transition="in" filter="fade">
                          <p:cBhvr>
                            <p:cTn id="78" dur="5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  <p:par>
                    <p:cTn id="79" fill="hold" presetID="10" presetClass="entr" presetSubtype="0" grpId="0" nodeType="withEffect">
                      <p:stCondLst>
                        <p:cond delay="1620"/>
                      </p:stCondLst>
                      <p:childTnLst>
                        <p:animEffect transition="in" filter="fade">
                          <p:cBhvr>
                            <p:cTn id="80" dur="5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  <p:par>
                    <p:cTn id="81" fill="hold" presetID="10" presetClass="entr" presetSubtype="0" grpId="0" nodeType="withEffect">
                      <p:stCondLst>
                        <p:cond delay="1660"/>
                      </p:stCondLst>
                      <p:childTnLst>
                        <p:animEffect transition="in" filter="fade">
                          <p:cBhvr>
                            <p:cTn id="82" dur="5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  <p:par>
                    <p:cTn id="83" fill="hold" presetID="10" presetClass="entr" presetSubtype="0" grpId="0" nodeType="withEffect">
                      <p:stCondLst>
                        <p:cond delay="1700"/>
                      </p:stCondLst>
                      <p:childTnLst>
                        <p:animEffect transition="in" filter="fade">
                          <p:cBhvr>
                            <p:cTn id="84" dur="5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  <p:par>
                    <p:cTn id="85" fill="hold" presetID="10" presetClass="entr" presetSubtype="0" grpId="0" nodeType="withEffect">
                      <p:stCondLst>
                        <p:cond delay="1740"/>
                      </p:stCondLst>
                      <p:childTnLst>
                        <p:animEffect transition="in" filter="fade">
                          <p:cBhvr>
                            <p:cTn id="86" dur="5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  <p:par>
                    <p:cTn id="87" fill="hold" presetID="10" presetClass="entr" presetSubtype="0" grpId="0" nodeType="withEffect">
                      <p:stCondLst>
                        <p:cond delay="1780"/>
                      </p:stCondLst>
                      <p:childTnLst>
                        <p:animEffect transition="in" filter="fade">
                          <p:cBhvr>
                            <p:cTn id="88" dur="5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  <p:par>
                    <p:cTn id="89" fill="hold" presetID="10" presetClass="entr" presetSubtype="0" grpId="0" nodeType="withEffect">
                      <p:stCondLst>
                        <p:cond delay="1820"/>
                      </p:stCondLst>
                      <p:childTnLst>
                        <p:animEffect transition="in" filter="fade">
                          <p:cBhvr>
                            <p:cTn id="90" dur="5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  <p:par>
                    <p:cTn id="91" fill="hold" presetID="10" presetClass="entr" presetSubtype="0" grpId="0" nodeType="withEffect">
                      <p:stCondLst>
                        <p:cond delay="1860"/>
                      </p:stCondLst>
                      <p:childTnLst>
                        <p:animEffect transition="in" filter="fade">
                          <p:cBhvr>
                            <p:cTn id="92" dur="5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  <p:par>
                    <p:cTn id="93" fill="hold" presetID="10" presetClass="entr" presetSubtype="0" grpId="0" nodeType="withEffect">
                      <p:stCondLst>
                        <p:cond delay="1900"/>
                      </p:stCondLst>
                      <p:childTnLst>
                        <p:animEffect transition="in" filter="fade">
                          <p:cBhvr>
                            <p:cTn id="94" dur="5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  <p:par>
                    <p:cTn id="95" fill="hold" presetID="10" presetClass="entr" presetSubtype="0" grpId="0" nodeType="withEffect">
                      <p:stCondLst>
                        <p:cond delay="1940"/>
                      </p:stCondLst>
                      <p:childTnLst>
                        <p:animEffect transition="in" filter="fade">
                          <p:cBhvr>
                            <p:cTn id="96" dur="5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  <p:par>
                    <p:cTn id="97" fill="hold" presetID="10" presetClass="entr" presetSubtype="0" grpId="0" nodeType="withEffect">
                      <p:stCondLst>
                        <p:cond delay="1980"/>
                      </p:stCondLst>
                      <p:childTnLst>
                        <p:animEffect transition="in" filter="fade">
                          <p:cBhvr>
                            <p:cTn id="98" dur="5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  <p:par>
                    <p:cTn id="99" fill="hold" presetID="10" presetClass="entr" presetSubtype="0" grpId="0" nodeType="withEffect">
                      <p:stCondLst>
                        <p:cond delay="2020"/>
                      </p:stCondLst>
                      <p:childTnLst>
                        <p:animEffect transition="in" filter="fade">
                          <p:cBhvr>
                            <p:cTn id="100" dur="5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  <p:par>
                    <p:cTn id="101" fill="hold" presetID="10" presetClass="entr" presetSubtype="0" grpId="0" nodeType="withEffect">
                      <p:stCondLst>
                        <p:cond delay="2060"/>
                      </p:stCondLst>
                      <p:childTnLst>
                        <p:animEffect transition="in" filter="fade">
                          <p:cBhvr>
                            <p:cTn id="102" dur="5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  <p:par>
                    <p:cTn id="103" fill="hold" presetID="10" presetClass="entr" presetSubtype="0" grpId="0" nodeType="withEffect">
                      <p:stCondLst>
                        <p:cond delay="2100"/>
                      </p:stCondLst>
                      <p:childTnLst>
                        <p:animEffect transition="in" filter="fade">
                          <p:cBhvr>
                            <p:cTn id="104" dur="5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  <p:par>
                    <p:cTn id="105" fill="hold" presetID="10" presetClass="entr" presetSubtype="0" grpId="0" nodeType="withEffect">
                      <p:stCondLst>
                        <p:cond delay="2140"/>
                      </p:stCondLst>
                      <p:childTnLst>
                        <p:animEffect transition="in" filter="fade">
                          <p:cBhvr>
                            <p:cTn id="106" dur="5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  <p:par>
                    <p:cTn id="107" fill="hold" presetID="10" presetClass="entr" presetSubtype="0" grpId="0" nodeType="withEffect">
                      <p:stCondLst>
                        <p:cond delay="2180"/>
                      </p:stCondLst>
                      <p:childTnLst>
                        <p:animEffect transition="in" filter="fade">
                          <p:cBhvr>
                            <p:cTn id="108" dur="5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  <p:par>
                    <p:cTn id="109" fill="hold" presetID="10" presetClass="entr" presetSubtype="0" grpId="0" nodeType="withEffect">
                      <p:stCondLst>
                        <p:cond delay="2220"/>
                      </p:stCondLst>
                      <p:childTnLst>
                        <p:animEffect transition="in" filter="fade">
                          <p:cBhvr>
                            <p:cTn id="110" dur="5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  <p:par>
                    <p:cTn id="111" fill="hold" presetID="10" presetClass="entr" presetSubtype="0" grpId="0" nodeType="withEffect">
                      <p:stCondLst>
                        <p:cond delay="2260"/>
                      </p:stCondLst>
                      <p:childTnLst>
                        <p:animEffect transition="in" filter="fade">
                          <p:cBhvr>
                            <p:cTn id="112" dur="5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  <p:par>
                    <p:cTn id="113" fill="hold" presetID="10" presetClass="entr" presetSubtype="0" grpId="0" nodeType="withEffect">
                      <p:stCondLst>
                        <p:cond delay="2300"/>
                      </p:stCondLst>
                      <p:childTnLst>
                        <p:animEffect transition="in" filter="fade">
                          <p:cBhvr>
                            <p:cTn id="114" dur="5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  <p:par>
                    <p:cTn id="115" fill="hold" presetID="10" presetClass="entr" presetSubtype="0" grpId="0" nodeType="withEffect">
                      <p:stCondLst>
                        <p:cond delay="2340"/>
                      </p:stCondLst>
                      <p:childTnLst>
                        <p:animEffect transition="in" filter="fade">
                          <p:cBhvr>
                            <p:cTn id="116" dur="5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  <p:par>
                    <p:cTn id="117" fill="hold" presetID="10" presetClass="entr" presetSubtype="0" grpId="0" nodeType="withEffect">
                      <p:stCondLst>
                        <p:cond delay="2380"/>
                      </p:stCondLst>
                      <p:childTnLst>
                        <p:animEffect transition="in" filter="fade">
                          <p:cBhvr>
                            <p:cTn id="118" dur="5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  <p:par>
                    <p:cTn id="119" fill="hold" presetID="10" presetClass="entr" presetSubtype="0" grpId="0" nodeType="withEffect">
                      <p:stCondLst>
                        <p:cond delay="2420"/>
                      </p:stCondLst>
                      <p:childTnLst>
                        <p:animEffect transition="in" filter="fade">
                          <p:cBhvr>
                            <p:cTn id="120" dur="5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  <p:par>
                    <p:cTn id="121" fill="hold" presetID="10" presetClass="entr" presetSubtype="0" grpId="0" nodeType="withEffect">
                      <p:stCondLst>
                        <p:cond delay="2460"/>
                      </p:stCondLst>
                      <p:childTnLst>
                        <p:animEffect transition="in" filter="fade">
                          <p:cBhvr>
                            <p:cTn id="122" dur="5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  <p:par>
                    <p:cTn id="123" fill="hold" presetID="10" presetClass="entr" presetSubtype="0" grpId="0" nodeType="withEffect">
                      <p:stCondLst>
                        <p:cond delay="2500"/>
                      </p:stCondLst>
                      <p:childTnLst>
                        <p:animEffect transition="in" filter="fade">
                          <p:cBhvr>
                            <p:cTn id="124" dur="5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  <p:par>
                    <p:cTn id="125" fill="hold" presetID="10" presetClass="entr" presetSubtype="0" grpId="0" nodeType="withEffect">
                      <p:stCondLst>
                        <p:cond delay="2540"/>
                      </p:stCondLst>
                      <p:childTnLst>
                        <p:animEffect transition="in" filter="fade">
                          <p:cBhvr>
                            <p:cTn id="126" dur="500"/>
                            <p:tgtEl>
                              <p:spTgt spid="70"/>
                            </p:tgtEl>
                          </p:cBhvr>
                        </p:animEffect>
                      </p:childTnLst>
                    </p:cTn>
                  </p:par>
                  <p:par>
                    <p:cTn id="127" fill="hold" presetID="10" presetClass="entr" presetSubtype="0" grpId="0" nodeType="withEffect">
                      <p:stCondLst>
                        <p:cond delay="2580"/>
                      </p:stCondLst>
                      <p:childTnLst>
                        <p:animEffect transition="in" filter="fade">
                          <p:cBhvr>
                            <p:cTn id="128" dur="500"/>
                            <p:tgtEl>
                              <p:spTgt spid="71"/>
                            </p:tgtEl>
                          </p:cBhvr>
                        </p:animEffect>
                      </p:childTnLst>
                    </p:cTn>
                  </p:par>
                  <p:par>
                    <p:cTn id="129" fill="hold" presetID="10" presetClass="entr" presetSubtype="0" grpId="0" nodeType="withEffect">
                      <p:stCondLst>
                        <p:cond delay="2620"/>
                      </p:stCondLst>
                      <p:childTnLst>
                        <p:animEffect transition="in" filter="fade">
                          <p:cBhvr>
                            <p:cTn id="130" dur="500"/>
                            <p:tgtEl>
                              <p:spTgt spid="7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Safety loop that stays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Detect risk → warn the traveler → capture location → surface real help. Never fake a dispatch.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Active safety zones from Firestore. Geofence monitor with foreground and background location.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600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6916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Warn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In-app banner + Android notification + history when entering a high-risk zone.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58200" y="1600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6916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SOS records live GPS to emergencyEvents. Nearby hospital / police / fire with real tel: dial.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947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776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Incident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Description + photo + video, type and size validated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Upload to Firebase Storage under incidents/{uid}/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NVIDIA triage → category, severity, summary, action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Stored in Firestore with full admin review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9476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977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What we refuse to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348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We do not auto-dial police or ambulance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We do not invent coordinates if GPS is off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We do not put personal data inside the QR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SOS is stored for admins — never “dispatched”</a:t>
            </a:r>
          </a:p>
        </p:txBody>
      </p:sp>
    </p:spTree>
  </p:cSld>
  <p:transition advClick="1" spd="med">
    <p:wipe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15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23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31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55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63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79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87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95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03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111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119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127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135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 presetID="10" presetClass="entr" presetSubtype="0" grpId="0" nodeType="withEffect">
                      <p:stCondLst>
                        <p:cond delay="1430"/>
                      </p:stCondLst>
                      <p:childTnLst>
                        <p:animEffect transition="in" filter="fade">
                          <p:cBhvr>
                            <p:cTn id="36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 presetID="10" presetClass="entr" presetSubtype="0" grpId="0" nodeType="withEffect">
                      <p:stCondLst>
                        <p:cond delay="1510"/>
                      </p:stCondLst>
                      <p:childTnLst>
                        <p:animEffect transition="in" filter="fade">
                          <p:cBhvr>
                            <p:cTn id="38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 presetID="10" presetClass="entr" presetSubtype="0" grpId="0" nodeType="withEffect">
                      <p:stCondLst>
                        <p:cond delay="1590"/>
                      </p:stCondLst>
                      <p:childTnLst>
                        <p:animEffect transition="in" filter="fade">
                          <p:cBhvr>
                            <p:cTn id="40"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 presetID="10" presetClass="entr" presetSubtype="0" grpId="0" nodeType="withEffect">
                      <p:stCondLst>
                        <p:cond delay="1670"/>
                      </p:stCondLst>
                      <p:childTnLst>
                        <p:animEffect transition="in" filter="fade">
                          <p:cBhvr>
                            <p:cTn id="42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43" fill="hold" presetID="10" presetClass="entr" presetSubtype="0" grpId="0" nodeType="withEffect">
                      <p:stCondLst>
                        <p:cond delay="1750"/>
                      </p:stCondLst>
                      <p:childTnLst>
                        <p:animEffect transition="in" filter="fade">
                          <p:cBhvr>
                            <p:cTn id="44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TRAVEL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Explore, navigate, converse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Real Google Places and Maps. Real NVIDIA chat with your location injected server-side.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6576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628"/>
                </a:solidFill>
                <a:latin typeface="Calibri"/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Text search + category browse (attractions, food, hidden gems)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Place detail: proxied photos, rating, price, open/closed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Distance from you + one-tap Google Maps navigation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Nearby attractions strip on Home (live Places results)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Nearby essentials for hospitals, ATMs and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628"/>
                </a:solidFill>
                <a:latin typeface="Calibri"/>
              </a:rPr>
              <a:t>Map &amp; multi-stop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Official Google Maps SDK — live blue dot, pan/zoom/rotate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Attraction markers and color-coded safety zone circles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Directions polyline when available; honest straight-line fallback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Multi-stop route planning across the day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Emergency service markers you can call or navigate 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25880"/>
            <a:ext cx="365760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628"/>
                </a:solidFill>
                <a:latin typeface="Calibri"/>
              </a:rPr>
              <a:t>AI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Conversational AI via NVIDIA Llama 3.1 70B Instruct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Current location + travel preferences as live context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Typing indicator, error states, suggestion chips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Complements the Trip Planner for on-trip questions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All keys stay on Cloud Functions — never in the APK</a:t>
            </a:r>
          </a:p>
        </p:txBody>
      </p:sp>
    </p:spTree>
  </p:cSld>
  <p:transition advClick="1" spd="med">
    <p:push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44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68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92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104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116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128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140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52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IDENTITY &amp; LIFESTYLE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Digital ID, Eco, Weather &amp;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Identity that verifies. Sustainability that measures. Weather that informs. Profile that personalizes.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5778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628"/>
                </a:solidFill>
                <a:latin typeface="Calibri"/>
              </a:rPr>
              <a:t>Digital Emergency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B1628"/>
                </a:solidFill>
                <a:latin typeface="Calibri"/>
              </a:rPr>
              <a:t>How it works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Profile with name, photo, emergency contacts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QR encodes only a random 64-hex verification token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No personal data ever rides inside the QR payload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Active / revoked status controlled by the owner</a:t>
            </a:r>
          </a:p>
          <a:p>
            <a:pPr algn="l">
              <a:spcAft>
                <a:spcPts val="5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B1628"/>
                </a:solidFill>
                <a:latin typeface="Calibri"/>
              </a:rPr>
              <a:t>Verification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Camera scan via mobile_scanner, or manual paste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Live Firestore lookup — not a static offline card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Copy-token support for desk / hotel handoff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52578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Eco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965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GPS-tracked walk and cycle sessions, manual logs, points, levels and badges in Firestore.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9260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26080"/>
            <a:ext cx="52578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154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OpenWeather current + 5-day forecast via backend proxy, with practical safety notes and retry states.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5262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526280"/>
            <a:ext cx="5257800" cy="73152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754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Profile &amp;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66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Photo, language, emergency contact, budget/style/interests. Per-user notification history with deep-links.</a:t>
            </a:r>
          </a:p>
        </p:txBody>
      </p:sp>
    </p:spTree>
  </p:cSld>
  <p:transition advClick="1"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100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110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Flutter client talks only to Firebase. All third-party keys live in Cloud Functions secrets.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 /  16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6275070"/>
          </a:xfrm>
          <a:prstGeom prst="rect">
            <a:avLst/>
          </a:prstGeom>
        </p:spPr>
      </p:pic>
    </p:spTree>
  </p:cSld>
  <p:transition advClick="1" spd="med">
    <p:push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Chosen for real device capability — every integration is production-wired.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36576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Flutter 3.32 / Dart 3.8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Material 3, GoRouter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google_maps_flutter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Official Maps SDK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geolocator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Fine / background GPS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mobile_scanner + qr_flutter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Digital ID scan &amp; render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dio + image_picker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Networking &amp; media capture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280160"/>
            <a:ext cx="36576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Firebase 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Google Sign-In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65176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Cloud Firestore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Live documents &amp; security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38328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Cloud Functions 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Node 20 secure API gateway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11480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Firebase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Incident media &amp; avatars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846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GitHub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Analyze · test · release APK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1280160"/>
            <a:ext cx="36576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1280160"/>
            <a:ext cx="3657600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Intelligence &amp;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NVIDIA Llama 3.1 70B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Chat, trip plans, incident triage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265176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OpenWeather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Current + 5-day forecast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338328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Google Places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Search, details, photos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11480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Google Routes / Geocoding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Polylines &amp; place labels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846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Per-user rate limits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Firestore transaction quotas</a:t>
            </a:r>
          </a:p>
        </p:txBody>
      </p:sp>
    </p:spTree>
  </p:cSld>
  <p:transition advClick="1"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12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17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22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27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37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52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57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67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72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77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82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87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 presetID="10" presetClass="entr" presetSubtype="0" grpId="0" nodeType="withEffect">
                      <p:stCondLst>
                        <p:cond delay="920"/>
                      </p:stCondLst>
                      <p:childTnLst>
                        <p:animEffect transition="in" filter="fade">
                          <p:cBhvr>
                            <p:cTn id="36"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 presetID="10" presetClass="entr" presetSubtype="0" grpId="0" nodeType="withEffect">
                      <p:stCondLst>
                        <p:cond delay="970"/>
                      </p:stCondLst>
                      <p:childTnLst>
                        <p:animEffect transition="in" filter="fade">
                          <p:cBhvr>
                            <p:cTn id="38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 presetID="10" presetClass="entr" presetSubtype="0" grpId="0" nodeType="withEffect">
                      <p:stCondLst>
                        <p:cond delay="1020"/>
                      </p:stCondLst>
                      <p:childTnLst>
                        <p:animEffect transition="in" filter="fade">
                          <p:cBhvr>
                            <p:cTn id="40"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 presetID="10" presetClass="entr" presetSubtype="0" grpId="0" nodeType="withEffect">
                      <p:stCondLst>
                        <p:cond delay="1070"/>
                      </p:stCondLst>
                      <p:childTnLst>
                        <p:animEffect transition="in" filter="fade">
                          <p:cBhvr>
                            <p:cTn id="42" dur="5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43" fill="hold" presetID="10" presetClass="entr" presetSubtype="0" grpId="0" nodeType="withEffect">
                      <p:stCondLst>
                        <p:cond delay="1120"/>
                      </p:stCondLst>
                      <p:childTnLst>
                        <p:animEffect transition="in" filter="fade">
                          <p:cBhvr>
                            <p:cTn id="44" dur="5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45" fill="hold" presetID="10" presetClass="entr" presetSubtype="0" grpId="0" nodeType="withEffect">
                      <p:stCondLst>
                        <p:cond delay="1170"/>
                      </p:stCondLst>
                      <p:childTnLst>
                        <p:animEffect transition="in" filter="fade">
                          <p:cBhvr>
                            <p:cTn id="46" dur="5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47" fill="hold" presetID="10" presetClass="entr" presetSubtype="0" grpId="0" nodeType="withEffect">
                      <p:stCondLst>
                        <p:cond delay="1220"/>
                      </p:stCondLst>
                      <p:childTnLst>
                        <p:animEffect transition="in" filter="fade">
                          <p:cBhvr>
                            <p:cTn id="48" dur="5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49" fill="hold" presetID="10" presetClass="entr" presetSubtype="0" grpId="0" nodeType="withEffect">
                      <p:stCondLst>
                        <p:cond delay="1270"/>
                      </p:stCondLst>
                      <p:childTnLst>
                        <p:animEffect transition="in" filter="fade">
                          <p:cBhvr>
                            <p:cTn id="50" dur="5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51" fill="hold" presetID="10" presetClass="entr" presetSubtype="0" grpId="0" nodeType="withEffect">
                      <p:stCondLst>
                        <p:cond delay="1320"/>
                      </p:stCondLst>
                      <p:childTnLst>
                        <p:animEffect transition="in" filter="fade">
                          <p:cBhvr>
                            <p:cTn id="52" dur="5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53" fill="hold" presetID="10" presetClass="entr" presetSubtype="0" grpId="0" nodeType="withEffect">
                      <p:stCondLst>
                        <p:cond delay="1370"/>
                      </p:stCondLst>
                      <p:childTnLst>
                        <p:animEffect transition="in" filter="fade">
                          <p:cBhvr>
                            <p:cTn id="54" dur="5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55" fill="hold" presetID="10" presetClass="entr" presetSubtype="0" grpId="0" nodeType="withEffect">
                      <p:stCondLst>
                        <p:cond delay="1420"/>
                      </p:stCondLst>
                      <p:childTnLst>
                        <p:animEffect transition="in" filter="fade">
                          <p:cBhvr>
                            <p:cTn id="56" dur="5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57" fill="hold" presetID="10" presetClass="entr" presetSubtype="0" grpId="0" nodeType="withEffect">
                      <p:stCondLst>
                        <p:cond delay="1470"/>
                      </p:stCondLst>
                      <p:childTnLst>
                        <p:animEffect transition="in" filter="fade">
                          <p:cBhvr>
                            <p:cTn id="58" dur="5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59" fill="hold" presetID="10" presetClass="entr" presetSubtype="0" grpId="0" nodeType="withEffect">
                      <p:stCondLst>
                        <p:cond delay="1520"/>
                      </p:stCondLst>
                      <p:childTnLst>
                        <p:animEffect transition="in" filter="fade">
                          <p:cBhvr>
                            <p:cTn id="60" dur="5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61" fill="hold" presetID="10" presetClass="entr" presetSubtype="0" grpId="0" nodeType="withEffect">
                      <p:stCondLst>
                        <p:cond delay="1570"/>
                      </p:stCondLst>
                      <p:childTnLst>
                        <p:animEffect transition="in" filter="fade">
                          <p:cBhvr>
                            <p:cTn id="62" dur="5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  <p:par>
                    <p:cTn id="63" fill="hold" presetID="10" presetClass="entr" presetSubtype="0" grpId="0" nodeType="withEffect">
                      <p:stCondLst>
                        <p:cond delay="1620"/>
                      </p:stCondLst>
                      <p:childTnLst>
                        <p:animEffect transition="in" filter="fade">
                          <p:cBhvr>
                            <p:cTn id="64" dur="5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  <p:par>
                    <p:cTn id="65" fill="hold" presetID="10" presetClass="entr" presetSubtype="0" grpId="0" nodeType="withEffect">
                      <p:stCondLst>
                        <p:cond delay="1670"/>
                      </p:stCondLst>
                      <p:childTnLst>
                        <p:animEffect transition="in" filter="fade">
                          <p:cBhvr>
                            <p:cTn id="66" dur="5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  <p:par>
                    <p:cTn id="67" fill="hold" presetID="10" presetClass="entr" presetSubtype="0" grpId="0" nodeType="withEffect">
                      <p:stCondLst>
                        <p:cond delay="1720"/>
                      </p:stCondLst>
                      <p:childTnLst>
                        <p:animEffect transition="in" filter="fade">
                          <p:cBhvr>
                            <p:cTn id="68" dur="5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  <p:par>
                    <p:cTn id="69" fill="hold" presetID="10" presetClass="entr" presetSubtype="0" grpId="0" nodeType="withEffect">
                      <p:stCondLst>
                        <p:cond delay="1770"/>
                      </p:stCondLst>
                      <p:childTnLst>
                        <p:animEffect transition="in" filter="fade">
                          <p:cBhvr>
                            <p:cTn id="70" dur="5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  <p:par>
                    <p:cTn id="71" fill="hold" presetID="10" presetClass="entr" presetSubtype="0" grpId="0" nodeType="withEffect">
                      <p:stCondLst>
                        <p:cond delay="1820"/>
                      </p:stCondLst>
                      <p:childTnLst>
                        <p:animEffect transition="in" filter="fade">
                          <p:cBhvr>
                            <p:cTn id="72" dur="5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  <p:par>
                    <p:cTn id="73" fill="hold" presetID="10" presetClass="entr" presetSubtype="0" grpId="0" nodeType="withEffect">
                      <p:stCondLst>
                        <p:cond delay="1870"/>
                      </p:stCondLst>
                      <p:childTnLst>
                        <p:animEffect transition="in" filter="fade">
                          <p:cBhvr>
                            <p:cTn id="74" dur="5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  <p:par>
                    <p:cTn id="75" fill="hold" presetID="10" presetClass="entr" presetSubtype="0" grpId="0" nodeType="withEffect">
                      <p:stCondLst>
                        <p:cond delay="1920"/>
                      </p:stCondLst>
                      <p:childTnLst>
                        <p:animEffect transition="in" filter="fade">
                          <p:cBhvr>
                            <p:cTn id="76" dur="5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  <p:par>
                    <p:cTn id="77" fill="hold" presetID="10" presetClass="entr" presetSubtype="0" grpId="0" nodeType="withEffect">
                      <p:stCondLst>
                        <p:cond delay="1970"/>
                      </p:stCondLst>
                      <p:childTnLst>
                        <p:animEffect transition="in" filter="fade">
                          <p:cBhvr>
                            <p:cTn id="78" dur="5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  <p:par>
                    <p:cTn id="79" fill="hold" presetID="10" presetClass="entr" presetSubtype="0" grpId="0" nodeType="withEffect">
                      <p:stCondLst>
                        <p:cond delay="2020"/>
                      </p:stCondLst>
                      <p:childTnLst>
                        <p:animEffect transition="in" filter="fade">
                          <p:cBhvr>
                            <p:cTn id="80" dur="5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Zero third-party secrets in the APK. Rules enforced server-side.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581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No keys in the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NVIDIA, OpenWeather and Google server keys live only as Cloud Function secrets. The app talks to Firebase and its own endpoints.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55448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581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Firestore &amp; Storage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Users write only their own docs. Safety zones are admin-writable. Incident media type/size capped. rateLimits denied to clients.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55448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581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Rate limiting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Per-user per-minute quotas in a Firestore transaction — chat 10, itinerary 5, places 30, weather 20, and more.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8862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Input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Shared Validators on the client and full type/range/length checks on every backend endpoint.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38862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Admin gating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Admin UI is role-gated in-app and blocked by security rules even if the client is tampered with.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66760" y="38862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Honest Digital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QR carries only a 64-hex token. Verification is a live Firestore read — revoke anytime.</a:t>
            </a:r>
          </a:p>
        </p:txBody>
      </p:sp>
    </p:spTree>
  </p:cSld>
  <p:transition advClick="1" spd="med">
    <p:wipe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15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23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31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55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63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presetID="10" presetClass="entr" presetSubtype="0" grpId="0" nodeType="withEffect">
                      <p:stCondLst>
                        <p:cond delay="790"/>
                      </p:stCondLst>
                      <p:childTnLst>
                        <p:animEffect transition="in" filter="fade">
                          <p:cBhvr>
                            <p:cTn id="20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presetID="10" presetClass="entr" presetSubtype="0" grpId="0" nodeType="withEffect">
                      <p:stCondLst>
                        <p:cond delay="870"/>
                      </p:stCondLst>
                      <p:childTnLst>
                        <p:animEffect transition="in" filter="fade">
                          <p:cBhvr>
                            <p:cTn id="22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3" fill="hold" presetID="10" presetClass="entr" presetSubtype="0" grpId="0" nodeType="withEffect">
                      <p:stCondLst>
                        <p:cond delay="950"/>
                      </p:stCondLst>
                      <p:childTnLst>
                        <p:animEffect transition="in" filter="fade">
                          <p:cBhvr>
                            <p:cTn id="24"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5" fill="hold" presetID="10" presetClass="entr" presetSubtype="0" grpId="0" nodeType="withEffect">
                      <p:stCondLst>
                        <p:cond delay="1030"/>
                      </p:stCondLst>
                      <p:childTnLst>
                        <p:animEffect transition="in" filter="fade">
                          <p:cBhvr>
                            <p:cTn id="26"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" fill="hold" presetID="10" presetClass="entr" presetSubtype="0" grpId="0" nodeType="withEffect">
                      <p:stCondLst>
                        <p:cond delay="1110"/>
                      </p:stCondLst>
                      <p:childTnLst>
                        <p:animEffect transition="in" filter="fade">
                          <p:cBhvr>
                            <p:cTn id="28"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9" fill="hold" presetID="10" presetClass="entr" presetSubtype="0" grpId="0" nodeType="withEffect">
                      <p:stCondLst>
                        <p:cond delay="1190"/>
                      </p:stCondLst>
                      <p:childTnLst>
                        <p:animEffect transition="in" filter="fade">
                          <p:cBhvr>
                            <p:cTn id="30" dur="5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1" fill="hold" presetID="10" presetClass="entr" presetSubtype="0" grpId="0" nodeType="withEffect">
                      <p:stCondLst>
                        <p:cond delay="1270"/>
                      </p:stCondLst>
                      <p:childTnLst>
                        <p:animEffect transition="in" filter="fade">
                          <p:cBhvr>
                            <p:cTn id="32" dur="5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presetID="10" presetClass="entr" presetSubtype="0" grpId="0" nodeType="withEffect">
                      <p:stCondLst>
                        <p:cond delay="1350"/>
                      </p:stCondLst>
                      <p:childTnLst>
                        <p:animEffect transition="in" filter="fade">
                          <p:cBhvr>
                            <p:cTn id="34"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5" fill="hold" presetID="10" presetClass="entr" presetSubtype="0" grpId="0" nodeType="withEffect">
                      <p:stCondLst>
                        <p:cond delay="1430"/>
                      </p:stCondLst>
                      <p:childTnLst>
                        <p:animEffect transition="in" filter="fade">
                          <p:cBhvr>
                            <p:cTn id="36" dur="5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 presetID="10" presetClass="entr" presetSubtype="0" grpId="0" nodeType="withEffect">
                      <p:stCondLst>
                        <p:cond delay="1510"/>
                      </p:stCondLst>
                      <p:childTnLst>
                        <p:animEffect transition="in" filter="fade">
                          <p:cBhvr>
                            <p:cTn id="38"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9" fill="hold" presetID="10" presetClass="entr" presetSubtype="0" grpId="0" nodeType="withEffect">
                      <p:stCondLst>
                        <p:cond delay="1590"/>
                      </p:stCondLst>
                      <p:childTnLst>
                        <p:animEffect transition="in" filter="fade">
                          <p:cBhvr>
                            <p:cTn id="40" dur="5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41" fill="hold" presetID="10" presetClass="entr" presetSubtype="0" grpId="0" nodeType="withEffect">
                      <p:stCondLst>
                        <p:cond delay="1670"/>
                      </p:stCondLst>
                      <p:childTnLst>
                        <p:animEffect transition="in" filter="fade">
                          <p:cBhvr>
                            <p:cTn id="42"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43" fill="hold" presetID="10" presetClass="entr" presetSubtype="0" grpId="0" nodeType="withEffect">
                      <p:stCondLst>
                        <p:cond delay="1750"/>
                      </p:stCondLst>
                      <p:childTnLst>
                        <p:animEffect transition="in" filter="fade">
                          <p:cBhvr>
                            <p:cTn id="44"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45" fill="hold" presetID="10" presetClass="entr" presetSubtype="0" grpId="0" nodeType="withEffect">
                      <p:stCondLst>
                        <p:cond delay="1830"/>
                      </p:stCondLst>
                      <p:childTnLst>
                        <p:animEffect transition="in" filter="fade">
                          <p:cBhvr>
                            <p:cTn id="46" dur="5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47" fill="hold" presetID="10" presetClass="entr" presetSubtype="0" grpId="0" nodeType="withEffect">
                      <p:stCondLst>
                        <p:cond delay="1910"/>
                      </p:stCondLst>
                      <p:childTnLst>
                        <p:animEffect transition="in" filter="fade">
                          <p:cBhvr>
                            <p:cTn id="48"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49" fill="hold" presetID="10" presetClass="entr" presetSubtype="0" grpId="0" nodeType="withEffect">
                      <p:stCondLst>
                        <p:cond delay="1990"/>
                      </p:stCondLst>
                      <p:childTnLst>
                        <p:animEffect transition="in" filter="fade">
                          <p:cBhvr>
                            <p:cTn id="50"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Live backend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Cloud Functions gateway — every path is implemented, validated and rate-limited.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  / 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89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8988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82880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 conversational AI with location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167128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128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/itinerary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21284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 JSON day-by-day trip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551176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968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/incidentAnalyze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5968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 triage — category, severity,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935224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809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/weatherCurrent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980944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OpenWeather current conditions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319272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649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/weatherForecast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364992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OpenWeather 5-day forecast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703320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49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/placesSearch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74904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Google Places text + nearby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087368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330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/placesDetails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13308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Place detail by 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471416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171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/placesPhoto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1713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Places photo proxy (GET)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855464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9011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/emergencyNearby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901184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Hospital / police / fire / doctor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239512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2852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/route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285232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Google Routes polyline +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623560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669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/geocodeReverse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66928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GPS → human-readable label</a:t>
            </a:r>
          </a:p>
        </p:txBody>
      </p:sp>
    </p:spTree>
  </p:cSld>
  <p:transition advClick="1"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 presetID="10" presetClass="entr" presetSubtype="0" grpId="0" nodeType="withEffect">
                      <p:stCondLst>
                        <p:cond delay="180"/>
                      </p:stCondLst>
                      <p:childTnLst>
                        <p:animEffect transition="in" filter="fade">
                          <p:cBhvr>
                            <p:cTn id="8"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" fill="hold" presetID="10" presetClass="entr" presetSubtype="0" grpId="0" nodeType="withEffect">
                      <p:stCondLst>
                        <p:cond delay="220"/>
                      </p:stCondLst>
                      <p:childTnLst>
                        <p:animEffect transition="in" filter="fade">
                          <p:cBhvr>
                            <p:cTn id="10" dur="5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1" fill="hold" presetID="10" presetClass="entr" presetSubtype="0" grpId="0" nodeType="withEffect">
                      <p:stCondLst>
                        <p:cond delay="260"/>
                      </p:stCondLst>
                      <p:childTnLst>
                        <p:animEffect transition="in" filter="fade">
                          <p:cBhvr>
                            <p:cTn id="12"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3" fill="hold" presetID="10" presetClass="entr" presetSubtype="0" grpId="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4"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5" fill="hold" presetID="10" presetClass="entr" presetSubtype="0" grpId="0" nodeType="withEffect">
                      <p:stCondLst>
                        <p:cond delay="340"/>
                      </p:stCondLst>
                      <p:childTnLst>
                        <p:animEffect transition="in" filter="fade">
                          <p:cBhvr>
                            <p:cTn id="16"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presetID="10" presetClass="entr" presetSubtype="0" grpId="0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18"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1628"/>
                </a:solidFill>
                <a:latin typeface="Calibri"/>
              </a:rPr>
              <a:t>What ships as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Every integration is wired end-to-end. If something is not ready, the UI says so honestly.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486400" cy="47091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Calibri"/>
              </a:rPr>
              <a:t>Working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Google Sign-In → personalized Home dashboard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Live weather + reverse-geocoded location label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Places search, details, photos, navigation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Maps with zones, routes, emergency markers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NVIDIA chat + AI Trip Planner (generate &amp; save)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SOS event write + nearby services dial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Incident media upload + AI triage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Digital ID issue / revoke / live verify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Eco session tracking + badges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Notifications, profile prefs, admin console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5212080" cy="47091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Calibri"/>
              </a:rPr>
              <a:t>Honest scope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Geofence runs while the app process is alive — not a separate OS-level geofence service yet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CI release APK is debug-keystore signed until a store keystore is supplied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SOS stores location and surfaces help — it does not contact authorities on your behalf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Blockchain is intentionally not claimed; Digital ID is modular for later anchoring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Safety quality depends on zones admins configure for each region</a:t>
            </a:r>
          </a:p>
        </p:txBody>
      </p:sp>
    </p:spTree>
  </p:cSld>
  <p:transition advClick="1" spd="med">
    <p:push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 presetID="10" presetClass="entr" presetSubtype="0" grpId="0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6" dur="5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5029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659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9488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YatraWise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Explore India  ·  Pay Fair  ·  Travel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840480"/>
            <a:ext cx="5943600" cy="1554480"/>
          </a:xfrm>
          <a:prstGeom prst="roundRect">
            <a:avLst>
              <a:gd name="adj" fmla="val 8000"/>
            </a:avLst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4023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343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Team Genesis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Smart tourism  ·  real safety  ·  working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Questions welcome  ·  September 2026</a:t>
            </a:r>
          </a:p>
        </p:txBody>
      </p:sp>
    </p:spTree>
  </p:cSld>
  <p:transition advClick="1"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presetID="10" presetClass="entr" presetSubtype="0" grpId="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4"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prev" delay="0">
                  <p:tgtEl>
                    <p:sldTgt/>
                  </p:tgtEl>
                </p:cond>
              </p:prevCondLst>
              <p:nextCondLst>
                <p:cond evt="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